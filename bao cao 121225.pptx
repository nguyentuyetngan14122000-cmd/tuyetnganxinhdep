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Francois One" charset="1" panose="02000503040000020004"/>
      <p:regular r:id="rId19"/>
    </p:embeddedFont>
    <p:embeddedFont>
      <p:font typeface="Muli" charset="1" panose="00000500000000000000"/>
      <p:regular r:id="rId20"/>
    </p:embeddedFont>
    <p:embeddedFont>
      <p:font typeface="Muli Light" charset="1" panose="00000400000000000000"/>
      <p:regular r:id="rId21"/>
    </p:embeddedFont>
    <p:embeddedFont>
      <p:font typeface="Raleway Light" charset="1" panose="000000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jpeg" Type="http://schemas.openxmlformats.org/officeDocument/2006/relationships/image"/><Relationship Id="rId5" Target="../media/image10.jpeg" Type="http://schemas.openxmlformats.org/officeDocument/2006/relationships/image"/><Relationship Id="rId6" Target="../media/image1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000000">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5154235" y="-723790"/>
            <a:ext cx="3513477" cy="1884501"/>
          </a:xfrm>
          <a:custGeom>
            <a:avLst/>
            <a:gdLst/>
            <a:ahLst/>
            <a:cxnLst/>
            <a:rect r="r" b="b" t="t" l="l"/>
            <a:pathLst>
              <a:path h="1884501" w="3513477">
                <a:moveTo>
                  <a:pt x="0" y="0"/>
                </a:moveTo>
                <a:lnTo>
                  <a:pt x="3513477" y="0"/>
                </a:lnTo>
                <a:lnTo>
                  <a:pt x="3513477" y="1884501"/>
                </a:lnTo>
                <a:lnTo>
                  <a:pt x="0" y="18845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372862" y="2318984"/>
            <a:ext cx="3799594" cy="678844"/>
          </a:xfrm>
          <a:custGeom>
            <a:avLst/>
            <a:gdLst/>
            <a:ahLst/>
            <a:cxnLst/>
            <a:rect r="r" b="b" t="t" l="l"/>
            <a:pathLst>
              <a:path h="678844" w="3799594">
                <a:moveTo>
                  <a:pt x="0" y="0"/>
                </a:moveTo>
                <a:lnTo>
                  <a:pt x="3799594" y="0"/>
                </a:lnTo>
                <a:lnTo>
                  <a:pt x="3799594" y="678844"/>
                </a:lnTo>
                <a:lnTo>
                  <a:pt x="0" y="6788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27249" y="8933667"/>
            <a:ext cx="3513477" cy="1884501"/>
          </a:xfrm>
          <a:custGeom>
            <a:avLst/>
            <a:gdLst/>
            <a:ahLst/>
            <a:cxnLst/>
            <a:rect r="r" b="b" t="t" l="l"/>
            <a:pathLst>
              <a:path h="1884501" w="3513477">
                <a:moveTo>
                  <a:pt x="0" y="0"/>
                </a:moveTo>
                <a:lnTo>
                  <a:pt x="3513477" y="0"/>
                </a:lnTo>
                <a:lnTo>
                  <a:pt x="3513477" y="1884502"/>
                </a:lnTo>
                <a:lnTo>
                  <a:pt x="0" y="18845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8117129" y="5651635"/>
            <a:ext cx="2311059" cy="638693"/>
          </a:xfrm>
          <a:custGeom>
            <a:avLst/>
            <a:gdLst/>
            <a:ahLst/>
            <a:cxnLst/>
            <a:rect r="r" b="b" t="t" l="l"/>
            <a:pathLst>
              <a:path h="638693" w="2311059">
                <a:moveTo>
                  <a:pt x="0" y="0"/>
                </a:moveTo>
                <a:lnTo>
                  <a:pt x="2311059" y="0"/>
                </a:lnTo>
                <a:lnTo>
                  <a:pt x="2311059" y="638693"/>
                </a:lnTo>
                <a:lnTo>
                  <a:pt x="0" y="6386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2966565" y="3489742"/>
            <a:ext cx="12612187" cy="1912810"/>
          </a:xfrm>
          <a:prstGeom prst="rect">
            <a:avLst/>
          </a:prstGeom>
        </p:spPr>
        <p:txBody>
          <a:bodyPr anchor="t" rtlCol="false" tIns="0" lIns="0" bIns="0" rIns="0">
            <a:spAutoFit/>
          </a:bodyPr>
          <a:lstStyle/>
          <a:p>
            <a:pPr algn="ctr">
              <a:lnSpc>
                <a:spcPts val="14729"/>
              </a:lnSpc>
            </a:pPr>
            <a:r>
              <a:rPr lang="en-US" sz="13513">
                <a:solidFill>
                  <a:srgbClr val="FFFFFF"/>
                </a:solidFill>
                <a:latin typeface="Francois One"/>
                <a:ea typeface="Francois One"/>
                <a:cs typeface="Francois One"/>
                <a:sym typeface="Francois One"/>
              </a:rPr>
              <a:t>2 CON ONG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4289758"/>
            <a:ext cx="8056247" cy="853742"/>
          </a:xfrm>
          <a:prstGeom prst="rect">
            <a:avLst/>
          </a:prstGeom>
        </p:spPr>
        <p:txBody>
          <a:bodyPr anchor="t" rtlCol="false" tIns="0" lIns="0" bIns="0" rIns="0">
            <a:spAutoFit/>
          </a:bodyPr>
          <a:lstStyle/>
          <a:p>
            <a:pPr algn="ctr">
              <a:lnSpc>
                <a:spcPts val="6880"/>
              </a:lnSpc>
            </a:pPr>
            <a:r>
              <a:rPr lang="en-US" sz="5460">
                <a:solidFill>
                  <a:srgbClr val="FFFFFF"/>
                </a:solidFill>
                <a:latin typeface="Francois One"/>
                <a:ea typeface="Francois One"/>
                <a:cs typeface="Francois One"/>
                <a:sym typeface="Francois One"/>
              </a:rPr>
              <a:t>THÀNH VIÊN: </a:t>
            </a:r>
          </a:p>
        </p:txBody>
      </p:sp>
      <p:sp>
        <p:nvSpPr>
          <p:cNvPr name="TextBox 5" id="5"/>
          <p:cNvSpPr txBox="true"/>
          <p:nvPr/>
        </p:nvSpPr>
        <p:spPr>
          <a:xfrm rot="0">
            <a:off x="8217852" y="2218182"/>
            <a:ext cx="9214320" cy="5073095"/>
          </a:xfrm>
          <a:prstGeom prst="rect">
            <a:avLst/>
          </a:prstGeom>
        </p:spPr>
        <p:txBody>
          <a:bodyPr anchor="t" rtlCol="false" tIns="0" lIns="0" bIns="0" rIns="0">
            <a:spAutoFit/>
          </a:bodyPr>
          <a:lstStyle/>
          <a:p>
            <a:pPr algn="ctr">
              <a:lnSpc>
                <a:spcPts val="4460"/>
              </a:lnSpc>
            </a:pPr>
            <a:r>
              <a:rPr lang="en-US" sz="4130">
                <a:solidFill>
                  <a:srgbClr val="FFFFFF"/>
                </a:solidFill>
                <a:latin typeface="Francois One"/>
                <a:ea typeface="Francois One"/>
                <a:cs typeface="Francois One"/>
                <a:sym typeface="Francois One"/>
              </a:rPr>
              <a:t>HỒ NGUYỄN MAI TRANG</a:t>
            </a:r>
          </a:p>
          <a:p>
            <a:pPr algn="ctr">
              <a:lnSpc>
                <a:spcPts val="4460"/>
              </a:lnSpc>
            </a:pPr>
            <a:r>
              <a:rPr lang="en-US" sz="4130">
                <a:solidFill>
                  <a:srgbClr val="FFFFFF"/>
                </a:solidFill>
                <a:latin typeface="Francois One"/>
                <a:ea typeface="Francois One"/>
                <a:cs typeface="Francois One"/>
                <a:sym typeface="Francois One"/>
              </a:rPr>
              <a:t> (TÌM KIẾM NỘI DUNG)</a:t>
            </a:r>
          </a:p>
          <a:p>
            <a:pPr algn="l">
              <a:lnSpc>
                <a:spcPts val="4460"/>
              </a:lnSpc>
            </a:pPr>
          </a:p>
          <a:p>
            <a:pPr algn="ctr">
              <a:lnSpc>
                <a:spcPts val="4460"/>
              </a:lnSpc>
            </a:pPr>
            <a:r>
              <a:rPr lang="en-US" sz="4130">
                <a:solidFill>
                  <a:srgbClr val="FFFFFF"/>
                </a:solidFill>
                <a:latin typeface="Francois One"/>
                <a:ea typeface="Francois One"/>
                <a:cs typeface="Francois One"/>
                <a:sym typeface="Francois One"/>
              </a:rPr>
              <a:t>NGUYỄN THỊ TUYẾT NGÂN</a:t>
            </a:r>
          </a:p>
          <a:p>
            <a:pPr algn="ctr">
              <a:lnSpc>
                <a:spcPts val="4460"/>
              </a:lnSpc>
            </a:pPr>
            <a:r>
              <a:rPr lang="en-US" sz="4130">
                <a:solidFill>
                  <a:srgbClr val="FFFFFF"/>
                </a:solidFill>
                <a:latin typeface="Francois One"/>
                <a:ea typeface="Francois One"/>
                <a:cs typeface="Francois One"/>
                <a:sym typeface="Francois One"/>
              </a:rPr>
              <a:t>(LÀM SLIDE)</a:t>
            </a:r>
          </a:p>
          <a:p>
            <a:pPr algn="l">
              <a:lnSpc>
                <a:spcPts val="4460"/>
              </a:lnSpc>
            </a:pPr>
          </a:p>
          <a:p>
            <a:pPr algn="ctr">
              <a:lnSpc>
                <a:spcPts val="4460"/>
              </a:lnSpc>
            </a:pPr>
            <a:r>
              <a:rPr lang="en-US" sz="4130">
                <a:solidFill>
                  <a:srgbClr val="FFFFFF"/>
                </a:solidFill>
                <a:latin typeface="Francois One"/>
                <a:ea typeface="Francois One"/>
                <a:cs typeface="Francois One"/>
                <a:sym typeface="Francois One"/>
              </a:rPr>
              <a:t>NGUYỄN THÀNH CÔNG</a:t>
            </a:r>
          </a:p>
          <a:p>
            <a:pPr algn="ctr">
              <a:lnSpc>
                <a:spcPts val="4460"/>
              </a:lnSpc>
            </a:pPr>
            <a:r>
              <a:rPr lang="en-US" sz="4130">
                <a:solidFill>
                  <a:srgbClr val="FFFFFF"/>
                </a:solidFill>
                <a:latin typeface="Francois One"/>
                <a:ea typeface="Francois One"/>
                <a:cs typeface="Francois One"/>
                <a:sym typeface="Francois One"/>
              </a:rPr>
              <a:t>(THUYẾT TRÌNH)</a:t>
            </a:r>
          </a:p>
          <a:p>
            <a:pPr algn="l">
              <a:lnSpc>
                <a:spcPts val="4460"/>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4062301"/>
            <a:ext cx="3706439" cy="1081199"/>
          </a:xfrm>
          <a:prstGeom prst="rect">
            <a:avLst/>
          </a:prstGeom>
        </p:spPr>
        <p:txBody>
          <a:bodyPr anchor="t" rtlCol="false" tIns="0" lIns="0" bIns="0" rIns="0">
            <a:spAutoFit/>
          </a:bodyPr>
          <a:lstStyle/>
          <a:p>
            <a:pPr algn="l">
              <a:lnSpc>
                <a:spcPts val="8644"/>
              </a:lnSpc>
            </a:pPr>
            <a:r>
              <a:rPr lang="en-US" sz="6860">
                <a:solidFill>
                  <a:srgbClr val="FFFFFF"/>
                </a:solidFill>
                <a:latin typeface="Francois One"/>
                <a:ea typeface="Francois One"/>
                <a:cs typeface="Francois One"/>
                <a:sym typeface="Francois One"/>
              </a:rPr>
              <a:t>NỘI DUNG:</a:t>
            </a:r>
          </a:p>
        </p:txBody>
      </p:sp>
      <p:sp>
        <p:nvSpPr>
          <p:cNvPr name="TextBox 5" id="5"/>
          <p:cNvSpPr txBox="true"/>
          <p:nvPr/>
        </p:nvSpPr>
        <p:spPr>
          <a:xfrm rot="0">
            <a:off x="5478719" y="1085850"/>
            <a:ext cx="11360776" cy="7984766"/>
          </a:xfrm>
          <a:prstGeom prst="rect">
            <a:avLst/>
          </a:prstGeom>
        </p:spPr>
        <p:txBody>
          <a:bodyPr anchor="t" rtlCol="false" tIns="0" lIns="0" bIns="0" rIns="0">
            <a:spAutoFit/>
          </a:bodyPr>
          <a:lstStyle/>
          <a:p>
            <a:pPr algn="l">
              <a:lnSpc>
                <a:spcPts val="5723"/>
              </a:lnSpc>
            </a:pPr>
            <a:r>
              <a:rPr lang="en-US" sz="5299">
                <a:solidFill>
                  <a:srgbClr val="FFFFFF"/>
                </a:solidFill>
                <a:latin typeface="Francois One"/>
                <a:ea typeface="Francois One"/>
                <a:cs typeface="Francois One"/>
                <a:sym typeface="Francois One"/>
              </a:rPr>
              <a:t>1.Ngành công nghệ thông tin là gì ?</a:t>
            </a:r>
          </a:p>
          <a:p>
            <a:pPr algn="l">
              <a:lnSpc>
                <a:spcPts val="5723"/>
              </a:lnSpc>
            </a:pPr>
            <a:r>
              <a:rPr lang="en-US" sz="5299">
                <a:solidFill>
                  <a:srgbClr val="FFFFFF"/>
                </a:solidFill>
                <a:latin typeface="Francois One"/>
                <a:ea typeface="Francois One"/>
                <a:cs typeface="Francois One"/>
                <a:sym typeface="Francois One"/>
              </a:rPr>
              <a:t>2.Những lĩnh vực ngành công nghệ thông tin nên biết?</a:t>
            </a:r>
          </a:p>
          <a:p>
            <a:pPr algn="l">
              <a:lnSpc>
                <a:spcPts val="5723"/>
              </a:lnSpc>
            </a:pPr>
            <a:r>
              <a:rPr lang="en-US" sz="5299">
                <a:solidFill>
                  <a:srgbClr val="FFFFFF"/>
                </a:solidFill>
                <a:latin typeface="Francois One"/>
                <a:ea typeface="Francois One"/>
                <a:cs typeface="Francois One"/>
                <a:sym typeface="Francois One"/>
              </a:rPr>
              <a:t>3.Học công nghệ thông tin phù hợp với nghề gì?</a:t>
            </a:r>
          </a:p>
          <a:p>
            <a:pPr algn="l">
              <a:lnSpc>
                <a:spcPts val="5723"/>
              </a:lnSpc>
            </a:pPr>
            <a:r>
              <a:rPr lang="en-US" sz="5299">
                <a:solidFill>
                  <a:srgbClr val="FFFFFF"/>
                </a:solidFill>
                <a:latin typeface="Francois One"/>
                <a:ea typeface="Francois One"/>
                <a:cs typeface="Francois One"/>
                <a:sym typeface="Francois One"/>
              </a:rPr>
              <a:t>4.Ngành công nghệ thông tin học những gì?</a:t>
            </a:r>
          </a:p>
          <a:p>
            <a:pPr algn="l">
              <a:lnSpc>
                <a:spcPts val="5723"/>
              </a:lnSpc>
            </a:pPr>
            <a:r>
              <a:rPr lang="en-US" sz="5299">
                <a:solidFill>
                  <a:srgbClr val="FFFFFF"/>
                </a:solidFill>
                <a:latin typeface="Francois One"/>
                <a:ea typeface="Francois One"/>
                <a:cs typeface="Francois One"/>
                <a:sym typeface="Francois One"/>
              </a:rPr>
              <a:t>5.Kỹ năng mềm cần có. </a:t>
            </a:r>
          </a:p>
          <a:p>
            <a:pPr algn="l">
              <a:lnSpc>
                <a:spcPts val="5723"/>
              </a:lnSpc>
            </a:pPr>
            <a:r>
              <a:rPr lang="en-US" sz="5299">
                <a:solidFill>
                  <a:srgbClr val="FFFFFF"/>
                </a:solidFill>
                <a:latin typeface="Francois One"/>
                <a:ea typeface="Francois One"/>
                <a:cs typeface="Francois One"/>
                <a:sym typeface="Francois One"/>
              </a:rPr>
              <a:t>6.Kỹ năng AI cần có.</a:t>
            </a:r>
          </a:p>
          <a:p>
            <a:pPr algn="l">
              <a:lnSpc>
                <a:spcPts val="5723"/>
              </a:lnSpc>
              <a:spcBef>
                <a:spcPct val="0"/>
              </a:spcBef>
            </a:pPr>
            <a:r>
              <a:rPr lang="en-US" sz="5299">
                <a:solidFill>
                  <a:srgbClr val="FFFFFF"/>
                </a:solidFill>
                <a:latin typeface="Francois One"/>
                <a:ea typeface="Francois One"/>
                <a:cs typeface="Francois One"/>
                <a:sym typeface="Francois One"/>
              </a:rPr>
              <a:t>7.Công cụ AI hỗ trợ ngành công nghệ thông tin.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499942" y="4673096"/>
            <a:ext cx="11288116" cy="4247490"/>
          </a:xfrm>
          <a:custGeom>
            <a:avLst/>
            <a:gdLst/>
            <a:ahLst/>
            <a:cxnLst/>
            <a:rect r="r" b="b" t="t" l="l"/>
            <a:pathLst>
              <a:path h="4247490" w="11288116">
                <a:moveTo>
                  <a:pt x="0" y="0"/>
                </a:moveTo>
                <a:lnTo>
                  <a:pt x="11288116" y="0"/>
                </a:lnTo>
                <a:lnTo>
                  <a:pt x="11288116" y="4247490"/>
                </a:lnTo>
                <a:lnTo>
                  <a:pt x="0" y="4247490"/>
                </a:lnTo>
                <a:lnTo>
                  <a:pt x="0" y="0"/>
                </a:lnTo>
                <a:close/>
              </a:path>
            </a:pathLst>
          </a:custGeom>
          <a:blipFill>
            <a:blip r:embed="rId4"/>
            <a:stretch>
              <a:fillRect l="0" t="-16461" r="0" b="-11102"/>
            </a:stretch>
          </a:blipFill>
        </p:spPr>
      </p:sp>
      <p:sp>
        <p:nvSpPr>
          <p:cNvPr name="TextBox 5" id="5"/>
          <p:cNvSpPr txBox="true"/>
          <p:nvPr/>
        </p:nvSpPr>
        <p:spPr>
          <a:xfrm rot="0">
            <a:off x="1612288" y="1271680"/>
            <a:ext cx="15063425" cy="1080939"/>
          </a:xfrm>
          <a:prstGeom prst="rect">
            <a:avLst/>
          </a:prstGeom>
        </p:spPr>
        <p:txBody>
          <a:bodyPr anchor="t" rtlCol="false" tIns="0" lIns="0" bIns="0" rIns="0">
            <a:spAutoFit/>
          </a:bodyPr>
          <a:lstStyle/>
          <a:p>
            <a:pPr algn="ctr">
              <a:lnSpc>
                <a:spcPts val="8687"/>
              </a:lnSpc>
            </a:pPr>
            <a:r>
              <a:rPr lang="en-US" sz="6894">
                <a:solidFill>
                  <a:srgbClr val="FFFFFF"/>
                </a:solidFill>
                <a:latin typeface="Francois One"/>
                <a:ea typeface="Francois One"/>
                <a:cs typeface="Francois One"/>
                <a:sym typeface="Francois One"/>
              </a:rPr>
              <a:t>1.NGÀNH CÔNG NGHỆ THÔNG TIN LÀ GÌ?</a:t>
            </a:r>
          </a:p>
        </p:txBody>
      </p:sp>
      <p:sp>
        <p:nvSpPr>
          <p:cNvPr name="TextBox 6" id="6"/>
          <p:cNvSpPr txBox="true"/>
          <p:nvPr/>
        </p:nvSpPr>
        <p:spPr>
          <a:xfrm rot="0">
            <a:off x="2558728" y="2861633"/>
            <a:ext cx="13441159" cy="1473749"/>
          </a:xfrm>
          <a:prstGeom prst="rect">
            <a:avLst/>
          </a:prstGeom>
        </p:spPr>
        <p:txBody>
          <a:bodyPr anchor="t" rtlCol="false" tIns="0" lIns="0" bIns="0" rIns="0">
            <a:spAutoFit/>
          </a:bodyPr>
          <a:lstStyle/>
          <a:p>
            <a:pPr algn="ctr">
              <a:lnSpc>
                <a:spcPts val="3863"/>
              </a:lnSpc>
              <a:spcBef>
                <a:spcPct val="0"/>
              </a:spcBef>
            </a:pPr>
            <a:r>
              <a:rPr lang="en-US" sz="3577">
                <a:solidFill>
                  <a:srgbClr val="FFFFFF"/>
                </a:solidFill>
                <a:latin typeface="Muli"/>
                <a:ea typeface="Muli"/>
                <a:cs typeface="Muli"/>
                <a:sym typeface="Muli"/>
              </a:rPr>
              <a:t> L</a:t>
            </a:r>
            <a:r>
              <a:rPr lang="en-US" sz="3577">
                <a:solidFill>
                  <a:srgbClr val="FFFFFF"/>
                </a:solidFill>
                <a:latin typeface="Muli"/>
                <a:ea typeface="Muli"/>
                <a:cs typeface="Muli"/>
                <a:sym typeface="Muli"/>
              </a:rPr>
              <a:t>à lĩnh vực sử dụng máy tính, phần mềm, mạng và các thiết bị kỹ thuật số để xử lý, lưu trữ, truyền tải và quản lý thông tin, dữ liệu, tạo ra các giải pháp công nghệ cho mọi lĩnh vực đời sống.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307997" y="5615794"/>
            <a:ext cx="7121853" cy="4332439"/>
          </a:xfrm>
          <a:custGeom>
            <a:avLst/>
            <a:gdLst/>
            <a:ahLst/>
            <a:cxnLst/>
            <a:rect r="r" b="b" t="t" l="l"/>
            <a:pathLst>
              <a:path h="4332439" w="7121853">
                <a:moveTo>
                  <a:pt x="0" y="0"/>
                </a:moveTo>
                <a:lnTo>
                  <a:pt x="7121853" y="0"/>
                </a:lnTo>
                <a:lnTo>
                  <a:pt x="7121853" y="4332439"/>
                </a:lnTo>
                <a:lnTo>
                  <a:pt x="0" y="4332439"/>
                </a:lnTo>
                <a:lnTo>
                  <a:pt x="0" y="0"/>
                </a:lnTo>
                <a:close/>
              </a:path>
            </a:pathLst>
          </a:custGeom>
          <a:blipFill>
            <a:blip r:embed="rId4"/>
            <a:stretch>
              <a:fillRect l="-16755" t="-10862" r="-19222" b="-5819"/>
            </a:stretch>
          </a:blipFill>
        </p:spPr>
      </p:sp>
      <p:sp>
        <p:nvSpPr>
          <p:cNvPr name="TextBox 5" id="5"/>
          <p:cNvSpPr txBox="true"/>
          <p:nvPr/>
        </p:nvSpPr>
        <p:spPr>
          <a:xfrm rot="0">
            <a:off x="2221724" y="1000125"/>
            <a:ext cx="13358359" cy="1850819"/>
          </a:xfrm>
          <a:prstGeom prst="rect">
            <a:avLst/>
          </a:prstGeom>
        </p:spPr>
        <p:txBody>
          <a:bodyPr anchor="t" rtlCol="false" tIns="0" lIns="0" bIns="0" rIns="0">
            <a:spAutoFit/>
          </a:bodyPr>
          <a:lstStyle/>
          <a:p>
            <a:pPr algn="ctr">
              <a:lnSpc>
                <a:spcPts val="7384"/>
              </a:lnSpc>
            </a:pPr>
            <a:r>
              <a:rPr lang="en-US" sz="5860">
                <a:solidFill>
                  <a:srgbClr val="FFFFFF"/>
                </a:solidFill>
                <a:latin typeface="Francois One"/>
                <a:ea typeface="Francois One"/>
                <a:cs typeface="Francois One"/>
                <a:sym typeface="Francois One"/>
              </a:rPr>
              <a:t>2.NHỮNG LĨNH VỰC NGÀNH CÔNG NGHỆ THÔNG TIN NÊN BIẾT?</a:t>
            </a:r>
          </a:p>
        </p:txBody>
      </p:sp>
      <p:sp>
        <p:nvSpPr>
          <p:cNvPr name="TextBox 6" id="6"/>
          <p:cNvSpPr txBox="true"/>
          <p:nvPr/>
        </p:nvSpPr>
        <p:spPr>
          <a:xfrm rot="0">
            <a:off x="566968" y="3238718"/>
            <a:ext cx="15432919" cy="3368219"/>
          </a:xfrm>
          <a:prstGeom prst="rect">
            <a:avLst/>
          </a:prstGeom>
        </p:spPr>
        <p:txBody>
          <a:bodyPr anchor="t" rtlCol="false" tIns="0" lIns="0" bIns="0" rIns="0">
            <a:spAutoFit/>
          </a:bodyPr>
          <a:lstStyle/>
          <a:p>
            <a:pPr algn="l" marL="1081328" indent="-540664" lvl="1">
              <a:lnSpc>
                <a:spcPts val="5409"/>
              </a:lnSpc>
              <a:buFont typeface="Arial"/>
              <a:buChar char="•"/>
            </a:pPr>
            <a:r>
              <a:rPr lang="en-US" sz="5008">
                <a:solidFill>
                  <a:srgbClr val="FFFFFF"/>
                </a:solidFill>
                <a:latin typeface="Muli Light"/>
                <a:ea typeface="Muli Light"/>
                <a:cs typeface="Muli Light"/>
                <a:sym typeface="Muli Light"/>
              </a:rPr>
              <a:t>Trí tuệ nhân tạo (AI) : Chat GPT</a:t>
            </a:r>
          </a:p>
          <a:p>
            <a:pPr algn="l" marL="1081328" indent="-540664" lvl="1">
              <a:lnSpc>
                <a:spcPts val="5409"/>
              </a:lnSpc>
              <a:buFont typeface="Arial"/>
              <a:buChar char="•"/>
            </a:pPr>
            <a:r>
              <a:rPr lang="en-US" sz="5008">
                <a:solidFill>
                  <a:srgbClr val="FFFFFF"/>
                </a:solidFill>
                <a:latin typeface="Muli Light"/>
                <a:ea typeface="Muli Light"/>
                <a:cs typeface="Muli Light"/>
                <a:sym typeface="Muli Light"/>
              </a:rPr>
              <a:t>Điện toán đám mây (Cloud) : AWS</a:t>
            </a:r>
          </a:p>
          <a:p>
            <a:pPr algn="l" marL="1081328" indent="-540664" lvl="1">
              <a:lnSpc>
                <a:spcPts val="5409"/>
              </a:lnSpc>
              <a:buFont typeface="Arial"/>
              <a:buChar char="•"/>
            </a:pPr>
            <a:r>
              <a:rPr lang="en-US" sz="5008">
                <a:solidFill>
                  <a:srgbClr val="FFFFFF"/>
                </a:solidFill>
                <a:latin typeface="Muli Light"/>
                <a:ea typeface="Muli Light"/>
                <a:cs typeface="Muli Light"/>
                <a:sym typeface="Muli Light"/>
              </a:rPr>
              <a:t>An ninh mạng (Cybersecurity)</a:t>
            </a:r>
          </a:p>
          <a:p>
            <a:pPr algn="l" marL="1081328" indent="-540664" lvl="1">
              <a:lnSpc>
                <a:spcPts val="5409"/>
              </a:lnSpc>
              <a:buFont typeface="Arial"/>
              <a:buChar char="•"/>
            </a:pPr>
            <a:r>
              <a:rPr lang="en-US" sz="5008">
                <a:solidFill>
                  <a:srgbClr val="FFFFFF"/>
                </a:solidFill>
                <a:latin typeface="Muli Light"/>
                <a:ea typeface="Muli Light"/>
                <a:cs typeface="Muli Light"/>
                <a:sym typeface="Muli Light"/>
              </a:rPr>
              <a:t>Dữ liệu lớn (Big Data)</a:t>
            </a:r>
          </a:p>
          <a:p>
            <a:pPr algn="l" marL="1081328" indent="-540664" lvl="1">
              <a:lnSpc>
                <a:spcPts val="5409"/>
              </a:lnSpc>
              <a:spcBef>
                <a:spcPct val="0"/>
              </a:spcBef>
              <a:buFont typeface="Arial"/>
              <a:buChar char="•"/>
            </a:pPr>
            <a:r>
              <a:rPr lang="en-US" sz="5008">
                <a:solidFill>
                  <a:srgbClr val="FFFFFF"/>
                </a:solidFill>
                <a:latin typeface="Muli Light"/>
                <a:ea typeface="Muli Light"/>
                <a:cs typeface="Muli Light"/>
                <a:sym typeface="Muli Light"/>
              </a:rPr>
              <a:t>Phát triển phần mềm &amp; IoT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227009" y="379228"/>
            <a:ext cx="11833983" cy="1823006"/>
          </a:xfrm>
          <a:prstGeom prst="rect">
            <a:avLst/>
          </a:prstGeom>
        </p:spPr>
        <p:txBody>
          <a:bodyPr anchor="t" rtlCol="false" tIns="0" lIns="0" bIns="0" rIns="0">
            <a:spAutoFit/>
          </a:bodyPr>
          <a:lstStyle/>
          <a:p>
            <a:pPr algn="ctr">
              <a:lnSpc>
                <a:spcPts val="7258"/>
              </a:lnSpc>
            </a:pPr>
            <a:r>
              <a:rPr lang="en-US" sz="5760">
                <a:solidFill>
                  <a:srgbClr val="FFFFFF"/>
                </a:solidFill>
                <a:latin typeface="Francois One"/>
                <a:ea typeface="Francois One"/>
                <a:cs typeface="Francois One"/>
                <a:sym typeface="Francois One"/>
              </a:rPr>
              <a:t>3.HỌC CÔNG NGHỆ THÔNG TIN PHÙ HỢP VỚI NGHỀ GÌ? </a:t>
            </a:r>
          </a:p>
        </p:txBody>
      </p:sp>
      <p:sp>
        <p:nvSpPr>
          <p:cNvPr name="TextBox 5" id="5"/>
          <p:cNvSpPr txBox="true"/>
          <p:nvPr/>
        </p:nvSpPr>
        <p:spPr>
          <a:xfrm rot="0">
            <a:off x="1496806" y="2478348"/>
            <a:ext cx="15762494" cy="6779952"/>
          </a:xfrm>
          <a:prstGeom prst="rect">
            <a:avLst/>
          </a:prstGeom>
        </p:spPr>
        <p:txBody>
          <a:bodyPr anchor="t" rtlCol="false" tIns="0" lIns="0" bIns="0" rIns="0">
            <a:spAutoFit/>
          </a:bodyPr>
          <a:lstStyle/>
          <a:p>
            <a:pPr algn="l" marL="712915" indent="-356458" lvl="1">
              <a:lnSpc>
                <a:spcPts val="3566"/>
              </a:lnSpc>
              <a:buFont typeface="Arial"/>
              <a:buChar char="•"/>
            </a:pPr>
            <a:r>
              <a:rPr lang="en-US" sz="3302">
                <a:solidFill>
                  <a:srgbClr val="FFFFFF"/>
                </a:solidFill>
                <a:latin typeface="Muli"/>
                <a:ea typeface="Muli"/>
                <a:cs typeface="Muli"/>
                <a:sym typeface="Muli"/>
              </a:rPr>
              <a:t>Lập trình viên Web/App : xây dựng trang web bán hàng </a:t>
            </a:r>
          </a:p>
          <a:p>
            <a:pPr algn="l">
              <a:lnSpc>
                <a:spcPts val="3566"/>
              </a:lnSpc>
            </a:pPr>
          </a:p>
          <a:p>
            <a:pPr algn="l" marL="712915" indent="-356458" lvl="1">
              <a:lnSpc>
                <a:spcPts val="3566"/>
              </a:lnSpc>
              <a:buFont typeface="Arial"/>
              <a:buChar char="•"/>
            </a:pPr>
            <a:r>
              <a:rPr lang="en-US" sz="3302">
                <a:solidFill>
                  <a:srgbClr val="FFFFFF"/>
                </a:solidFill>
                <a:latin typeface="Muli"/>
                <a:ea typeface="Muli"/>
                <a:cs typeface="Muli"/>
                <a:sym typeface="Muli"/>
              </a:rPr>
              <a:t>Kỹ sư AI : đưa AI vào nông nghiệp và giáo dục </a:t>
            </a:r>
          </a:p>
          <a:p>
            <a:pPr algn="l">
              <a:lnSpc>
                <a:spcPts val="3566"/>
              </a:lnSpc>
            </a:pPr>
          </a:p>
          <a:p>
            <a:pPr algn="l" marL="712915" indent="-356458" lvl="1">
              <a:lnSpc>
                <a:spcPts val="3566"/>
              </a:lnSpc>
              <a:buFont typeface="Arial"/>
              <a:buChar char="•"/>
            </a:pPr>
            <a:r>
              <a:rPr lang="en-US" sz="3302">
                <a:solidFill>
                  <a:srgbClr val="FFFFFF"/>
                </a:solidFill>
                <a:latin typeface="Muli"/>
                <a:ea typeface="Muli"/>
                <a:cs typeface="Muli"/>
                <a:sym typeface="Muli"/>
              </a:rPr>
              <a:t>Kỹ sư dữ liệu : Xây dựng hệ thống xử lý dữ liệu cho ngân hàng</a:t>
            </a:r>
          </a:p>
          <a:p>
            <a:pPr algn="l">
              <a:lnSpc>
                <a:spcPts val="3566"/>
              </a:lnSpc>
            </a:pPr>
          </a:p>
          <a:p>
            <a:pPr algn="l" marL="712915" indent="-356458" lvl="1">
              <a:lnSpc>
                <a:spcPts val="3566"/>
              </a:lnSpc>
              <a:buFont typeface="Arial"/>
              <a:buChar char="•"/>
            </a:pPr>
            <a:r>
              <a:rPr lang="en-US" sz="3302">
                <a:solidFill>
                  <a:srgbClr val="FFFFFF"/>
                </a:solidFill>
                <a:latin typeface="Muli"/>
                <a:ea typeface="Muli"/>
                <a:cs typeface="Muli"/>
                <a:sym typeface="Muli"/>
              </a:rPr>
              <a:t>Phân tích dữ liệu: Phân tích dữ liệu cho Shopee</a:t>
            </a:r>
          </a:p>
          <a:p>
            <a:pPr algn="l">
              <a:lnSpc>
                <a:spcPts val="3566"/>
              </a:lnSpc>
            </a:pPr>
          </a:p>
          <a:p>
            <a:pPr algn="l" marL="712915" indent="-356458" lvl="1">
              <a:lnSpc>
                <a:spcPts val="3566"/>
              </a:lnSpc>
              <a:buFont typeface="Arial"/>
              <a:buChar char="•"/>
            </a:pPr>
            <a:r>
              <a:rPr lang="en-US" sz="3302">
                <a:solidFill>
                  <a:srgbClr val="FFFFFF"/>
                </a:solidFill>
                <a:latin typeface="Muli"/>
                <a:ea typeface="Muli"/>
                <a:cs typeface="Muli"/>
                <a:sym typeface="Muli"/>
              </a:rPr>
              <a:t>Chuyên gia an ninh mạng : Điều tra sự cố tấn công mạng tại doanh nghiệp</a:t>
            </a:r>
          </a:p>
          <a:p>
            <a:pPr algn="l">
              <a:lnSpc>
                <a:spcPts val="3566"/>
              </a:lnSpc>
            </a:pPr>
          </a:p>
          <a:p>
            <a:pPr algn="l" marL="712915" indent="-356458" lvl="1">
              <a:lnSpc>
                <a:spcPts val="3566"/>
              </a:lnSpc>
              <a:buFont typeface="Arial"/>
              <a:buChar char="•"/>
            </a:pPr>
            <a:r>
              <a:rPr lang="en-US" sz="3302">
                <a:solidFill>
                  <a:srgbClr val="FFFFFF"/>
                </a:solidFill>
                <a:latin typeface="Muli"/>
                <a:ea typeface="Muli"/>
                <a:cs typeface="Muli"/>
                <a:sym typeface="Muli"/>
              </a:rPr>
              <a:t>Quản trị hệ thống  : quản lý hệ thống máy tính cho công ty hơn 200 nhân viên </a:t>
            </a:r>
          </a:p>
          <a:p>
            <a:pPr algn="l">
              <a:lnSpc>
                <a:spcPts val="3566"/>
              </a:lnSpc>
            </a:pPr>
          </a:p>
          <a:p>
            <a:pPr algn="l" marL="712915" indent="-356458" lvl="1">
              <a:lnSpc>
                <a:spcPts val="3566"/>
              </a:lnSpc>
              <a:buFont typeface="Arial"/>
              <a:buChar char="•"/>
            </a:pPr>
            <a:r>
              <a:rPr lang="en-US" sz="3302">
                <a:solidFill>
                  <a:srgbClr val="FFFFFF"/>
                </a:solidFill>
                <a:latin typeface="Muli"/>
                <a:ea typeface="Muli"/>
                <a:cs typeface="Muli"/>
                <a:sym typeface="Muli"/>
              </a:rPr>
              <a:t>Tester : Test các hệ thống,dự án mới </a:t>
            </a:r>
          </a:p>
          <a:p>
            <a:pPr algn="l">
              <a:lnSpc>
                <a:spcPts val="3566"/>
              </a:lnSpc>
            </a:pPr>
          </a:p>
          <a:p>
            <a:pPr algn="l" marL="712915" indent="-356458" lvl="1">
              <a:lnSpc>
                <a:spcPts val="3566"/>
              </a:lnSpc>
              <a:buFont typeface="Arial"/>
              <a:buChar char="•"/>
            </a:pPr>
            <a:r>
              <a:rPr lang="en-US" sz="3302">
                <a:solidFill>
                  <a:srgbClr val="FFFFFF"/>
                </a:solidFill>
                <a:latin typeface="Muli"/>
                <a:ea typeface="Muli"/>
                <a:cs typeface="Muli"/>
                <a:sym typeface="Muli"/>
              </a:rPr>
              <a:t>Kỹ sư IOT : thiết kế hệ thống tưới cây tự động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879955" y="1056038"/>
            <a:ext cx="12339829" cy="1720517"/>
          </a:xfrm>
          <a:prstGeom prst="rect">
            <a:avLst/>
          </a:prstGeom>
        </p:spPr>
        <p:txBody>
          <a:bodyPr anchor="t" rtlCol="false" tIns="0" lIns="0" bIns="0" rIns="0">
            <a:spAutoFit/>
          </a:bodyPr>
          <a:lstStyle/>
          <a:p>
            <a:pPr algn="ctr">
              <a:lnSpc>
                <a:spcPts val="6880"/>
              </a:lnSpc>
            </a:pPr>
            <a:r>
              <a:rPr lang="en-US" sz="5460">
                <a:solidFill>
                  <a:srgbClr val="FFFFFF"/>
                </a:solidFill>
                <a:latin typeface="Francois One"/>
                <a:ea typeface="Francois One"/>
                <a:cs typeface="Francois One"/>
                <a:sym typeface="Francois One"/>
              </a:rPr>
              <a:t>4.NGÀNH CÔNG NGHỆ THÔNG TIN HỌC NHỮNG GÌ?</a:t>
            </a:r>
          </a:p>
        </p:txBody>
      </p:sp>
      <p:sp>
        <p:nvSpPr>
          <p:cNvPr name="TextBox 5" id="5"/>
          <p:cNvSpPr txBox="true"/>
          <p:nvPr/>
        </p:nvSpPr>
        <p:spPr>
          <a:xfrm rot="0">
            <a:off x="187028" y="3454076"/>
            <a:ext cx="3499852" cy="1108710"/>
          </a:xfrm>
          <a:prstGeom prst="rect">
            <a:avLst/>
          </a:prstGeom>
        </p:spPr>
        <p:txBody>
          <a:bodyPr anchor="t" rtlCol="false" tIns="0" lIns="0" bIns="0" rIns="0">
            <a:spAutoFit/>
          </a:bodyPr>
          <a:lstStyle/>
          <a:p>
            <a:pPr algn="ctr">
              <a:lnSpc>
                <a:spcPts val="4319"/>
              </a:lnSpc>
            </a:pPr>
            <a:r>
              <a:rPr lang="en-US" sz="3999">
                <a:solidFill>
                  <a:srgbClr val="FFFFFF"/>
                </a:solidFill>
                <a:latin typeface="Muli"/>
                <a:ea typeface="Muli"/>
                <a:cs typeface="Muli"/>
                <a:sym typeface="Muli"/>
              </a:rPr>
              <a:t>Nhóm 1:</a:t>
            </a:r>
          </a:p>
          <a:p>
            <a:pPr algn="l">
              <a:lnSpc>
                <a:spcPts val="4319"/>
              </a:lnSpc>
              <a:spcBef>
                <a:spcPct val="0"/>
              </a:spcBef>
            </a:pPr>
          </a:p>
        </p:txBody>
      </p:sp>
      <p:sp>
        <p:nvSpPr>
          <p:cNvPr name="TextBox 6" id="6"/>
          <p:cNvSpPr txBox="true"/>
          <p:nvPr/>
        </p:nvSpPr>
        <p:spPr>
          <a:xfrm rot="0">
            <a:off x="4248855" y="3517322"/>
            <a:ext cx="3063384" cy="556565"/>
          </a:xfrm>
          <a:prstGeom prst="rect">
            <a:avLst/>
          </a:prstGeom>
        </p:spPr>
        <p:txBody>
          <a:bodyPr anchor="t" rtlCol="false" tIns="0" lIns="0" bIns="0" rIns="0">
            <a:spAutoFit/>
          </a:bodyPr>
          <a:lstStyle/>
          <a:p>
            <a:pPr algn="ctr">
              <a:lnSpc>
                <a:spcPts val="4341"/>
              </a:lnSpc>
              <a:spcBef>
                <a:spcPct val="0"/>
              </a:spcBef>
            </a:pPr>
            <a:r>
              <a:rPr lang="en-US" sz="4019">
                <a:solidFill>
                  <a:srgbClr val="FFFFFF"/>
                </a:solidFill>
                <a:latin typeface="Muli"/>
                <a:ea typeface="Muli"/>
                <a:cs typeface="Muli"/>
                <a:sym typeface="Muli"/>
              </a:rPr>
              <a:t>Nhóm 2:</a:t>
            </a:r>
          </a:p>
        </p:txBody>
      </p:sp>
      <p:sp>
        <p:nvSpPr>
          <p:cNvPr name="TextBox 7" id="7"/>
          <p:cNvSpPr txBox="true"/>
          <p:nvPr/>
        </p:nvSpPr>
        <p:spPr>
          <a:xfrm rot="0">
            <a:off x="11095911" y="4709923"/>
            <a:ext cx="3049754" cy="3387318"/>
          </a:xfrm>
          <a:prstGeom prst="rect">
            <a:avLst/>
          </a:prstGeom>
        </p:spPr>
        <p:txBody>
          <a:bodyPr anchor="t" rtlCol="false" tIns="0" lIns="0" bIns="0" rIns="0">
            <a:spAutoFit/>
          </a:bodyPr>
          <a:lstStyle/>
          <a:p>
            <a:pPr algn="l" marL="893823" indent="-446911" lvl="1">
              <a:lnSpc>
                <a:spcPts val="4471"/>
              </a:lnSpc>
              <a:buFont typeface="Arial"/>
              <a:buChar char="•"/>
            </a:pPr>
            <a:r>
              <a:rPr lang="en-US" sz="4139">
                <a:solidFill>
                  <a:srgbClr val="FFFFFF"/>
                </a:solidFill>
                <a:latin typeface="Muli"/>
                <a:ea typeface="Muli"/>
                <a:cs typeface="Muli"/>
                <a:sym typeface="Muli"/>
              </a:rPr>
              <a:t>Vật lý thực hành</a:t>
            </a:r>
          </a:p>
          <a:p>
            <a:pPr algn="l" marL="893823" indent="-446911" lvl="1">
              <a:lnSpc>
                <a:spcPts val="4471"/>
              </a:lnSpc>
              <a:buFont typeface="Arial"/>
              <a:buChar char="•"/>
            </a:pPr>
            <a:r>
              <a:rPr lang="en-US" sz="4139">
                <a:solidFill>
                  <a:srgbClr val="FFFFFF"/>
                </a:solidFill>
                <a:latin typeface="Muli"/>
                <a:ea typeface="Muli"/>
                <a:cs typeface="Muli"/>
                <a:sym typeface="Muli"/>
              </a:rPr>
              <a:t>Điện tử trong IOT</a:t>
            </a:r>
          </a:p>
        </p:txBody>
      </p:sp>
      <p:sp>
        <p:nvSpPr>
          <p:cNvPr name="TextBox 8" id="8"/>
          <p:cNvSpPr txBox="true"/>
          <p:nvPr/>
        </p:nvSpPr>
        <p:spPr>
          <a:xfrm rot="0">
            <a:off x="4109669" y="4709923"/>
            <a:ext cx="2651074" cy="3610584"/>
          </a:xfrm>
          <a:prstGeom prst="rect">
            <a:avLst/>
          </a:prstGeom>
        </p:spPr>
        <p:txBody>
          <a:bodyPr anchor="t" rtlCol="false" tIns="0" lIns="0" bIns="0" rIns="0">
            <a:spAutoFit/>
          </a:bodyPr>
          <a:lstStyle/>
          <a:p>
            <a:pPr algn="l" marL="818259" indent="-409129" lvl="1">
              <a:lnSpc>
                <a:spcPts val="4093"/>
              </a:lnSpc>
              <a:buFont typeface="Arial"/>
              <a:buChar char="•"/>
            </a:pPr>
            <a:r>
              <a:rPr lang="en-US" sz="3789">
                <a:solidFill>
                  <a:srgbClr val="FFFFFF"/>
                </a:solidFill>
                <a:latin typeface="Muli"/>
                <a:ea typeface="Muli"/>
                <a:cs typeface="Muli"/>
                <a:sym typeface="Muli"/>
              </a:rPr>
              <a:t>Phần mềm mã nguồn mở</a:t>
            </a:r>
          </a:p>
          <a:p>
            <a:pPr algn="l" marL="818259" indent="-409129" lvl="1">
              <a:lnSpc>
                <a:spcPts val="4093"/>
              </a:lnSpc>
              <a:buFont typeface="Arial"/>
              <a:buChar char="•"/>
            </a:pPr>
            <a:r>
              <a:rPr lang="en-US" sz="3789">
                <a:solidFill>
                  <a:srgbClr val="FFFFFF"/>
                </a:solidFill>
                <a:latin typeface="Muli"/>
                <a:ea typeface="Muli"/>
                <a:cs typeface="Muli"/>
                <a:sym typeface="Muli"/>
              </a:rPr>
              <a:t>Thiết kế Web</a:t>
            </a:r>
          </a:p>
        </p:txBody>
      </p:sp>
      <p:sp>
        <p:nvSpPr>
          <p:cNvPr name="TextBox 9" id="9"/>
          <p:cNvSpPr txBox="true"/>
          <p:nvPr/>
        </p:nvSpPr>
        <p:spPr>
          <a:xfrm rot="0">
            <a:off x="7670577" y="3517322"/>
            <a:ext cx="3063384" cy="556565"/>
          </a:xfrm>
          <a:prstGeom prst="rect">
            <a:avLst/>
          </a:prstGeom>
        </p:spPr>
        <p:txBody>
          <a:bodyPr anchor="t" rtlCol="false" tIns="0" lIns="0" bIns="0" rIns="0">
            <a:spAutoFit/>
          </a:bodyPr>
          <a:lstStyle/>
          <a:p>
            <a:pPr algn="ctr">
              <a:lnSpc>
                <a:spcPts val="4341"/>
              </a:lnSpc>
              <a:spcBef>
                <a:spcPct val="0"/>
              </a:spcBef>
            </a:pPr>
            <a:r>
              <a:rPr lang="en-US" sz="4019">
                <a:solidFill>
                  <a:srgbClr val="FFFFFF"/>
                </a:solidFill>
                <a:latin typeface="Muli"/>
                <a:ea typeface="Muli"/>
                <a:cs typeface="Muli"/>
                <a:sym typeface="Muli"/>
              </a:rPr>
              <a:t>Nhóm 3:</a:t>
            </a:r>
          </a:p>
        </p:txBody>
      </p:sp>
      <p:sp>
        <p:nvSpPr>
          <p:cNvPr name="TextBox 10" id="10"/>
          <p:cNvSpPr txBox="true"/>
          <p:nvPr/>
        </p:nvSpPr>
        <p:spPr>
          <a:xfrm rot="0">
            <a:off x="14520356" y="4700398"/>
            <a:ext cx="3464529" cy="1165999"/>
          </a:xfrm>
          <a:prstGeom prst="rect">
            <a:avLst/>
          </a:prstGeom>
        </p:spPr>
        <p:txBody>
          <a:bodyPr anchor="t" rtlCol="false" tIns="0" lIns="0" bIns="0" rIns="0">
            <a:spAutoFit/>
          </a:bodyPr>
          <a:lstStyle/>
          <a:p>
            <a:pPr algn="l" marL="899957" indent="-449979" lvl="1">
              <a:lnSpc>
                <a:spcPts val="4501"/>
              </a:lnSpc>
              <a:buFont typeface="Arial"/>
              <a:buChar char="•"/>
            </a:pPr>
            <a:r>
              <a:rPr lang="en-US" sz="4168">
                <a:solidFill>
                  <a:srgbClr val="FFFFFF"/>
                </a:solidFill>
                <a:latin typeface="Muli"/>
                <a:ea typeface="Muli"/>
                <a:cs typeface="Muli"/>
                <a:sym typeface="Muli"/>
              </a:rPr>
              <a:t>Ngoại ngữ 1,2,3,4,5,6</a:t>
            </a:r>
          </a:p>
        </p:txBody>
      </p:sp>
      <p:sp>
        <p:nvSpPr>
          <p:cNvPr name="TextBox 11" id="11"/>
          <p:cNvSpPr txBox="true"/>
          <p:nvPr/>
        </p:nvSpPr>
        <p:spPr>
          <a:xfrm rot="0">
            <a:off x="7469071" y="4709923"/>
            <a:ext cx="2918513" cy="3881151"/>
          </a:xfrm>
          <a:prstGeom prst="rect">
            <a:avLst/>
          </a:prstGeom>
        </p:spPr>
        <p:txBody>
          <a:bodyPr anchor="t" rtlCol="false" tIns="0" lIns="0" bIns="0" rIns="0">
            <a:spAutoFit/>
          </a:bodyPr>
          <a:lstStyle/>
          <a:p>
            <a:pPr algn="l" marL="873038" indent="-436519" lvl="1">
              <a:lnSpc>
                <a:spcPts val="4367"/>
              </a:lnSpc>
              <a:buFont typeface="Arial"/>
              <a:buChar char="•"/>
            </a:pPr>
            <a:r>
              <a:rPr lang="en-US" sz="4043">
                <a:solidFill>
                  <a:srgbClr val="FFFFFF"/>
                </a:solidFill>
                <a:latin typeface="Muli"/>
                <a:ea typeface="Muli"/>
                <a:cs typeface="Muli"/>
                <a:sym typeface="Muli"/>
              </a:rPr>
              <a:t>Toán cao cấp 1</a:t>
            </a:r>
          </a:p>
          <a:p>
            <a:pPr algn="l" marL="873038" indent="-436519" lvl="1">
              <a:lnSpc>
                <a:spcPts val="4367"/>
              </a:lnSpc>
              <a:buFont typeface="Arial"/>
              <a:buChar char="•"/>
            </a:pPr>
            <a:r>
              <a:rPr lang="en-US" sz="4043">
                <a:solidFill>
                  <a:srgbClr val="FFFFFF"/>
                </a:solidFill>
                <a:latin typeface="Muli"/>
                <a:ea typeface="Muli"/>
                <a:cs typeface="Muli"/>
                <a:sym typeface="Muli"/>
              </a:rPr>
              <a:t>Xác suất thống kê</a:t>
            </a:r>
          </a:p>
        </p:txBody>
      </p:sp>
      <p:sp>
        <p:nvSpPr>
          <p:cNvPr name="TextBox 12" id="12"/>
          <p:cNvSpPr txBox="true"/>
          <p:nvPr/>
        </p:nvSpPr>
        <p:spPr>
          <a:xfrm rot="0">
            <a:off x="212427" y="4700398"/>
            <a:ext cx="3474454" cy="3808661"/>
          </a:xfrm>
          <a:prstGeom prst="rect">
            <a:avLst/>
          </a:prstGeom>
        </p:spPr>
        <p:txBody>
          <a:bodyPr anchor="t" rtlCol="false" tIns="0" lIns="0" bIns="0" rIns="0">
            <a:spAutoFit/>
          </a:bodyPr>
          <a:lstStyle/>
          <a:p>
            <a:pPr algn="l" marL="667033" indent="-333516" lvl="1">
              <a:lnSpc>
                <a:spcPts val="3336"/>
              </a:lnSpc>
              <a:buFont typeface="Arial"/>
              <a:buChar char="•"/>
            </a:pPr>
            <a:r>
              <a:rPr lang="en-US" sz="3089">
                <a:solidFill>
                  <a:srgbClr val="FFFFFF"/>
                </a:solidFill>
                <a:latin typeface="Muli"/>
                <a:ea typeface="Muli"/>
                <a:cs typeface="Muli"/>
                <a:sym typeface="Muli"/>
              </a:rPr>
              <a:t>Nhập môn ngành</a:t>
            </a:r>
          </a:p>
          <a:p>
            <a:pPr algn="l" marL="667033" indent="-333516" lvl="1">
              <a:lnSpc>
                <a:spcPts val="3336"/>
              </a:lnSpc>
              <a:buFont typeface="Arial"/>
              <a:buChar char="•"/>
            </a:pPr>
            <a:r>
              <a:rPr lang="en-US" sz="3089">
                <a:solidFill>
                  <a:srgbClr val="FFFFFF"/>
                </a:solidFill>
                <a:latin typeface="Muli"/>
                <a:ea typeface="Muli"/>
                <a:cs typeface="Muli"/>
                <a:sym typeface="Muli"/>
              </a:rPr>
              <a:t>Nhập môn lập trình</a:t>
            </a:r>
          </a:p>
          <a:p>
            <a:pPr algn="l" marL="667033" indent="-333516" lvl="1">
              <a:lnSpc>
                <a:spcPts val="3336"/>
              </a:lnSpc>
              <a:buFont typeface="Arial"/>
              <a:buChar char="•"/>
            </a:pPr>
            <a:r>
              <a:rPr lang="en-US" sz="3089">
                <a:solidFill>
                  <a:srgbClr val="FFFFFF"/>
                </a:solidFill>
                <a:latin typeface="Muli"/>
                <a:ea typeface="Muli"/>
                <a:cs typeface="Muli"/>
                <a:sym typeface="Muli"/>
              </a:rPr>
              <a:t>Lắp ráp và tối ưu hệ thống máy tính.</a:t>
            </a:r>
          </a:p>
          <a:p>
            <a:pPr algn="l" marL="667033" indent="-333516" lvl="1">
              <a:lnSpc>
                <a:spcPts val="3336"/>
              </a:lnSpc>
              <a:buFont typeface="Arial"/>
              <a:buChar char="•"/>
            </a:pPr>
            <a:r>
              <a:rPr lang="en-US" sz="3089">
                <a:solidFill>
                  <a:srgbClr val="FFFFFF"/>
                </a:solidFill>
                <a:latin typeface="Muli"/>
                <a:ea typeface="Muli"/>
                <a:cs typeface="Muli"/>
                <a:sym typeface="Muli"/>
              </a:rPr>
              <a:t>Lập  trình (Python,C,C++)</a:t>
            </a:r>
          </a:p>
        </p:txBody>
      </p:sp>
      <p:sp>
        <p:nvSpPr>
          <p:cNvPr name="TextBox 13" id="13"/>
          <p:cNvSpPr txBox="true"/>
          <p:nvPr/>
        </p:nvSpPr>
        <p:spPr>
          <a:xfrm rot="0">
            <a:off x="14720929" y="3463601"/>
            <a:ext cx="3063384" cy="556565"/>
          </a:xfrm>
          <a:prstGeom prst="rect">
            <a:avLst/>
          </a:prstGeom>
        </p:spPr>
        <p:txBody>
          <a:bodyPr anchor="t" rtlCol="false" tIns="0" lIns="0" bIns="0" rIns="0">
            <a:spAutoFit/>
          </a:bodyPr>
          <a:lstStyle/>
          <a:p>
            <a:pPr algn="ctr">
              <a:lnSpc>
                <a:spcPts val="4341"/>
              </a:lnSpc>
              <a:spcBef>
                <a:spcPct val="0"/>
              </a:spcBef>
            </a:pPr>
            <a:r>
              <a:rPr lang="en-US" sz="4019">
                <a:solidFill>
                  <a:srgbClr val="FFFFFF"/>
                </a:solidFill>
                <a:latin typeface="Muli"/>
                <a:ea typeface="Muli"/>
                <a:cs typeface="Muli"/>
                <a:sym typeface="Muli"/>
              </a:rPr>
              <a:t>Nhóm 5:</a:t>
            </a:r>
          </a:p>
        </p:txBody>
      </p:sp>
      <p:sp>
        <p:nvSpPr>
          <p:cNvPr name="TextBox 14" id="14"/>
          <p:cNvSpPr txBox="true"/>
          <p:nvPr/>
        </p:nvSpPr>
        <p:spPr>
          <a:xfrm rot="0">
            <a:off x="11095911" y="3517322"/>
            <a:ext cx="3063384" cy="556565"/>
          </a:xfrm>
          <a:prstGeom prst="rect">
            <a:avLst/>
          </a:prstGeom>
        </p:spPr>
        <p:txBody>
          <a:bodyPr anchor="t" rtlCol="false" tIns="0" lIns="0" bIns="0" rIns="0">
            <a:spAutoFit/>
          </a:bodyPr>
          <a:lstStyle/>
          <a:p>
            <a:pPr algn="ctr">
              <a:lnSpc>
                <a:spcPts val="4341"/>
              </a:lnSpc>
              <a:spcBef>
                <a:spcPct val="0"/>
              </a:spcBef>
            </a:pPr>
            <a:r>
              <a:rPr lang="en-US" sz="4019">
                <a:solidFill>
                  <a:srgbClr val="FFFFFF"/>
                </a:solidFill>
                <a:latin typeface="Muli"/>
                <a:ea typeface="Muli"/>
                <a:cs typeface="Muli"/>
                <a:sym typeface="Muli"/>
              </a:rPr>
              <a:t>Nhóm 4:</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659887" y="659072"/>
            <a:ext cx="10101112" cy="1253793"/>
          </a:xfrm>
          <a:prstGeom prst="rect">
            <a:avLst/>
          </a:prstGeom>
        </p:spPr>
        <p:txBody>
          <a:bodyPr anchor="t" rtlCol="false" tIns="0" lIns="0" bIns="0" rIns="0">
            <a:spAutoFit/>
          </a:bodyPr>
          <a:lstStyle/>
          <a:p>
            <a:pPr algn="l">
              <a:lnSpc>
                <a:spcPts val="10029"/>
              </a:lnSpc>
            </a:pPr>
            <a:r>
              <a:rPr lang="en-US" sz="7960">
                <a:solidFill>
                  <a:srgbClr val="FFFFFF"/>
                </a:solidFill>
                <a:latin typeface="Francois One"/>
                <a:ea typeface="Francois One"/>
                <a:cs typeface="Francois One"/>
                <a:sym typeface="Francois One"/>
              </a:rPr>
              <a:t>5.KỸ NĂNG MỀM CẦN CÓ </a:t>
            </a:r>
          </a:p>
        </p:txBody>
      </p:sp>
      <p:sp>
        <p:nvSpPr>
          <p:cNvPr name="TextBox 5" id="5"/>
          <p:cNvSpPr txBox="true"/>
          <p:nvPr/>
        </p:nvSpPr>
        <p:spPr>
          <a:xfrm rot="0">
            <a:off x="343092" y="1903339"/>
            <a:ext cx="17601816" cy="7591237"/>
          </a:xfrm>
          <a:prstGeom prst="rect">
            <a:avLst/>
          </a:prstGeom>
        </p:spPr>
        <p:txBody>
          <a:bodyPr anchor="t" rtlCol="false" tIns="0" lIns="0" bIns="0" rIns="0">
            <a:spAutoFit/>
          </a:bodyPr>
          <a:lstStyle/>
          <a:p>
            <a:pPr algn="l">
              <a:lnSpc>
                <a:spcPts val="3181"/>
              </a:lnSpc>
            </a:pPr>
          </a:p>
          <a:p>
            <a:pPr algn="l" marL="545065" indent="-272533" lvl="1">
              <a:lnSpc>
                <a:spcPts val="3181"/>
              </a:lnSpc>
              <a:buFont typeface="Arial"/>
              <a:buChar char="•"/>
            </a:pPr>
            <a:r>
              <a:rPr lang="en-US" sz="2524">
                <a:solidFill>
                  <a:srgbClr val="FFFFFF"/>
                </a:solidFill>
                <a:latin typeface="Muli"/>
                <a:ea typeface="Muli"/>
                <a:cs typeface="Muli"/>
                <a:sym typeface="Muli"/>
              </a:rPr>
              <a:t>Giao tiếp</a:t>
            </a:r>
            <a:r>
              <a:rPr lang="en-US" sz="2524">
                <a:solidFill>
                  <a:srgbClr val="FFFFFF"/>
                </a:solidFill>
                <a:latin typeface="Muli"/>
                <a:ea typeface="Muli"/>
                <a:cs typeface="Muli"/>
                <a:sym typeface="Muli"/>
              </a:rPr>
              <a:t> (truyền đạt ý tưởng kỹ thuật, lắng nghe)</a:t>
            </a:r>
          </a:p>
          <a:p>
            <a:pPr algn="l">
              <a:lnSpc>
                <a:spcPts val="3181"/>
              </a:lnSpc>
            </a:pPr>
            <a:r>
              <a:rPr lang="en-US" sz="2524">
                <a:solidFill>
                  <a:srgbClr val="FFFFFF"/>
                </a:solidFill>
                <a:latin typeface="Muli"/>
                <a:ea typeface="Muli"/>
                <a:cs typeface="Muli"/>
                <a:sym typeface="Muli"/>
              </a:rPr>
              <a:t>Ví dụ : khi làm việc nhóm với nhau và bản thân phát hiện ra lỗi sai cần phải nói cho người trong nhóm để chỉnh sửa lại </a:t>
            </a:r>
          </a:p>
          <a:p>
            <a:pPr algn="l">
              <a:lnSpc>
                <a:spcPts val="3181"/>
              </a:lnSpc>
            </a:pPr>
          </a:p>
          <a:p>
            <a:pPr algn="l" marL="545065" indent="-272533" lvl="1">
              <a:lnSpc>
                <a:spcPts val="3181"/>
              </a:lnSpc>
              <a:buFont typeface="Arial"/>
              <a:buChar char="•"/>
            </a:pPr>
            <a:r>
              <a:rPr lang="en-US" sz="2524">
                <a:solidFill>
                  <a:srgbClr val="FFFFFF"/>
                </a:solidFill>
                <a:latin typeface="Muli"/>
                <a:ea typeface="Muli"/>
                <a:cs typeface="Muli"/>
                <a:sym typeface="Muli"/>
              </a:rPr>
              <a:t>Làm việc nhóm</a:t>
            </a:r>
            <a:r>
              <a:rPr lang="en-US" sz="2524">
                <a:solidFill>
                  <a:srgbClr val="FFFFFF"/>
                </a:solidFill>
                <a:latin typeface="Muli"/>
                <a:ea typeface="Muli"/>
                <a:cs typeface="Muli"/>
                <a:sym typeface="Muli"/>
              </a:rPr>
              <a:t> (phối hợp dự án)</a:t>
            </a:r>
          </a:p>
          <a:p>
            <a:pPr algn="l">
              <a:lnSpc>
                <a:spcPts val="3181"/>
              </a:lnSpc>
            </a:pPr>
            <a:r>
              <a:rPr lang="en-US" sz="2524">
                <a:solidFill>
                  <a:srgbClr val="FFFFFF"/>
                </a:solidFill>
                <a:latin typeface="Muli"/>
                <a:ea typeface="Muli"/>
                <a:cs typeface="Muli"/>
                <a:sym typeface="Muli"/>
              </a:rPr>
              <a:t>Ví dụ : mỗi người trong nhóm sẽ có nhiệm vụ khác nhau,để nắm được tình hình mọi người cần phải gửi tiến độ,thảo luận và hỗ trợ nhau</a:t>
            </a:r>
          </a:p>
          <a:p>
            <a:pPr algn="l">
              <a:lnSpc>
                <a:spcPts val="3181"/>
              </a:lnSpc>
            </a:pPr>
          </a:p>
          <a:p>
            <a:pPr algn="l" marL="545065" indent="-272533" lvl="1">
              <a:lnSpc>
                <a:spcPts val="3181"/>
              </a:lnSpc>
              <a:buFont typeface="Arial"/>
              <a:buChar char="•"/>
            </a:pPr>
            <a:r>
              <a:rPr lang="en-US" sz="2524">
                <a:solidFill>
                  <a:srgbClr val="FFFFFF"/>
                </a:solidFill>
                <a:latin typeface="Muli"/>
                <a:ea typeface="Muli"/>
                <a:cs typeface="Muli"/>
                <a:sym typeface="Muli"/>
              </a:rPr>
              <a:t>Giải quyết vấn đề &amp; Tư duy logic</a:t>
            </a:r>
            <a:r>
              <a:rPr lang="en-US" sz="2524">
                <a:solidFill>
                  <a:srgbClr val="FFFFFF"/>
                </a:solidFill>
                <a:latin typeface="Muli"/>
                <a:ea typeface="Muli"/>
                <a:cs typeface="Muli"/>
                <a:sym typeface="Muli"/>
              </a:rPr>
              <a:t> (xử lý sự cố, phân tích)</a:t>
            </a:r>
          </a:p>
          <a:p>
            <a:pPr algn="l">
              <a:lnSpc>
                <a:spcPts val="3181"/>
              </a:lnSpc>
            </a:pPr>
            <a:r>
              <a:rPr lang="en-US" sz="2524">
                <a:solidFill>
                  <a:srgbClr val="FFFFFF"/>
                </a:solidFill>
                <a:latin typeface="Muli"/>
                <a:ea typeface="Muli"/>
                <a:cs typeface="Muli"/>
                <a:sym typeface="Muli"/>
              </a:rPr>
              <a:t>Ví dụ : khi sever bỗng nhiên bị chậm bất thường thì việc nên làm là kiểm tra CPU,RAM và xem log có bị lỗi database không</a:t>
            </a:r>
          </a:p>
          <a:p>
            <a:pPr algn="l">
              <a:lnSpc>
                <a:spcPts val="3181"/>
              </a:lnSpc>
            </a:pPr>
          </a:p>
          <a:p>
            <a:pPr algn="l" marL="545065" indent="-272533" lvl="1">
              <a:lnSpc>
                <a:spcPts val="3181"/>
              </a:lnSpc>
              <a:buFont typeface="Arial"/>
              <a:buChar char="•"/>
            </a:pPr>
            <a:r>
              <a:rPr lang="en-US" sz="2524">
                <a:solidFill>
                  <a:srgbClr val="FFFFFF"/>
                </a:solidFill>
                <a:latin typeface="Muli"/>
                <a:ea typeface="Muli"/>
                <a:cs typeface="Muli"/>
                <a:sym typeface="Muli"/>
              </a:rPr>
              <a:t>Tự học &amp; Thích ứng</a:t>
            </a:r>
            <a:r>
              <a:rPr lang="en-US" sz="2524">
                <a:solidFill>
                  <a:srgbClr val="FFFFFF"/>
                </a:solidFill>
                <a:latin typeface="Muli"/>
                <a:ea typeface="Muli"/>
                <a:cs typeface="Muli"/>
                <a:sym typeface="Muli"/>
              </a:rPr>
              <a:t> (cập nhật công nghệ mới)</a:t>
            </a:r>
          </a:p>
          <a:p>
            <a:pPr algn="l">
              <a:lnSpc>
                <a:spcPts val="3181"/>
              </a:lnSpc>
            </a:pPr>
            <a:r>
              <a:rPr lang="en-US" sz="2524">
                <a:solidFill>
                  <a:srgbClr val="FFFFFF"/>
                </a:solidFill>
                <a:latin typeface="Muli"/>
                <a:ea typeface="Muli"/>
                <a:cs typeface="Muli"/>
                <a:sym typeface="Muli"/>
              </a:rPr>
              <a:t>Ví dụ : khi tiếp xúc với một nền tảng hoàn toàn mới em đã tự học bằng youtube,hỏi mọi người xung quanh </a:t>
            </a:r>
          </a:p>
          <a:p>
            <a:pPr algn="l">
              <a:lnSpc>
                <a:spcPts val="3181"/>
              </a:lnSpc>
            </a:pPr>
          </a:p>
          <a:p>
            <a:pPr algn="l" marL="545065" indent="-272533" lvl="1">
              <a:lnSpc>
                <a:spcPts val="3181"/>
              </a:lnSpc>
              <a:buFont typeface="Arial"/>
              <a:buChar char="•"/>
            </a:pPr>
            <a:r>
              <a:rPr lang="en-US" sz="2524">
                <a:solidFill>
                  <a:srgbClr val="FFFFFF"/>
                </a:solidFill>
                <a:latin typeface="Muli"/>
                <a:ea typeface="Muli"/>
                <a:cs typeface="Muli"/>
                <a:sym typeface="Muli"/>
              </a:rPr>
              <a:t>Quản lý thời gian &amp; Áp lực</a:t>
            </a:r>
            <a:r>
              <a:rPr lang="en-US" sz="2524">
                <a:solidFill>
                  <a:srgbClr val="FFFFFF"/>
                </a:solidFill>
                <a:latin typeface="Muli"/>
                <a:ea typeface="Muli"/>
                <a:cs typeface="Muli"/>
                <a:sym typeface="Muli"/>
              </a:rPr>
              <a:t>, cùng với kỹ năng </a:t>
            </a:r>
            <a:r>
              <a:rPr lang="en-US" sz="2524">
                <a:solidFill>
                  <a:srgbClr val="FFFFFF"/>
                </a:solidFill>
                <a:latin typeface="Muli"/>
                <a:ea typeface="Muli"/>
                <a:cs typeface="Muli"/>
                <a:sym typeface="Muli"/>
              </a:rPr>
              <a:t>Thuyết trình</a:t>
            </a:r>
            <a:r>
              <a:rPr lang="en-US" sz="2524">
                <a:solidFill>
                  <a:srgbClr val="FFFFFF"/>
                </a:solidFill>
                <a:latin typeface="Muli"/>
                <a:ea typeface="Muli"/>
                <a:cs typeface="Muli"/>
                <a:sym typeface="Muli"/>
              </a:rPr>
              <a:t> và </a:t>
            </a:r>
            <a:r>
              <a:rPr lang="en-US" sz="2524">
                <a:solidFill>
                  <a:srgbClr val="FFFFFF"/>
                </a:solidFill>
                <a:latin typeface="Muli"/>
                <a:ea typeface="Muli"/>
                <a:cs typeface="Muli"/>
                <a:sym typeface="Muli"/>
              </a:rPr>
              <a:t>Kiên nhẫn</a:t>
            </a:r>
          </a:p>
          <a:p>
            <a:pPr algn="l">
              <a:lnSpc>
                <a:spcPts val="3181"/>
              </a:lnSpc>
            </a:pPr>
            <a:r>
              <a:rPr lang="en-US" sz="2524">
                <a:solidFill>
                  <a:srgbClr val="FFFFFF"/>
                </a:solidFill>
                <a:latin typeface="Muli"/>
                <a:ea typeface="Muli"/>
                <a:cs typeface="Muli"/>
                <a:sym typeface="Muli"/>
              </a:rPr>
              <a:t>Ví dụ : trong vòng 1 tuần cả nhóm phải có bài báo cáo cho giảng viên chúng em đã chia thời gian phù hợp để tìm nội dung,làm slide và chỉnh sửa lại</a:t>
            </a:r>
          </a:p>
          <a:p>
            <a:pPr algn="l">
              <a:lnSpc>
                <a:spcPts val="3181"/>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6172722" y="1496848"/>
            <a:ext cx="7705784" cy="999284"/>
          </a:xfrm>
          <a:prstGeom prst="rect">
            <a:avLst/>
          </a:prstGeom>
        </p:spPr>
        <p:txBody>
          <a:bodyPr anchor="t" rtlCol="false" tIns="0" lIns="0" bIns="0" rIns="0">
            <a:spAutoFit/>
          </a:bodyPr>
          <a:lstStyle/>
          <a:p>
            <a:pPr algn="l">
              <a:lnSpc>
                <a:spcPts val="8014"/>
              </a:lnSpc>
            </a:pPr>
            <a:r>
              <a:rPr lang="en-US" sz="6360">
                <a:solidFill>
                  <a:srgbClr val="FFFFFF"/>
                </a:solidFill>
                <a:latin typeface="Francois One"/>
                <a:ea typeface="Francois One"/>
                <a:cs typeface="Francois One"/>
                <a:sym typeface="Francois One"/>
              </a:rPr>
              <a:t>6.KỸ NĂNG AI CẦN CÓ.</a:t>
            </a:r>
          </a:p>
        </p:txBody>
      </p:sp>
      <p:sp>
        <p:nvSpPr>
          <p:cNvPr name="TextBox 5" id="5"/>
          <p:cNvSpPr txBox="true"/>
          <p:nvPr/>
        </p:nvSpPr>
        <p:spPr>
          <a:xfrm rot="0">
            <a:off x="5291108" y="3877152"/>
            <a:ext cx="9469011" cy="4597980"/>
          </a:xfrm>
          <a:prstGeom prst="rect">
            <a:avLst/>
          </a:prstGeom>
        </p:spPr>
        <p:txBody>
          <a:bodyPr anchor="t" rtlCol="false" tIns="0" lIns="0" bIns="0" rIns="0">
            <a:spAutoFit/>
          </a:bodyPr>
          <a:lstStyle/>
          <a:p>
            <a:pPr algn="l" marL="907797" indent="-453898" lvl="1">
              <a:lnSpc>
                <a:spcPts val="4541"/>
              </a:lnSpc>
              <a:buFont typeface="Arial"/>
              <a:buChar char="•"/>
            </a:pPr>
            <a:r>
              <a:rPr lang="en-US" sz="4204">
                <a:solidFill>
                  <a:srgbClr val="FFFFFF"/>
                </a:solidFill>
                <a:latin typeface="Raleway Light"/>
                <a:ea typeface="Raleway Light"/>
                <a:cs typeface="Raleway Light"/>
                <a:sym typeface="Raleway Light"/>
              </a:rPr>
              <a:t>Kiến thức Toán: Xác suất – thống kê – đại số tuyến tính </a:t>
            </a:r>
          </a:p>
          <a:p>
            <a:pPr algn="l" marL="907797" indent="-453898" lvl="1">
              <a:lnSpc>
                <a:spcPts val="4541"/>
              </a:lnSpc>
              <a:buFont typeface="Arial"/>
              <a:buChar char="•"/>
            </a:pPr>
            <a:r>
              <a:rPr lang="en-US" sz="4204">
                <a:solidFill>
                  <a:srgbClr val="FFFFFF"/>
                </a:solidFill>
                <a:latin typeface="Raleway Light"/>
                <a:ea typeface="Raleway Light"/>
                <a:cs typeface="Raleway Light"/>
                <a:sym typeface="Raleway Light"/>
              </a:rPr>
              <a:t>Python </a:t>
            </a:r>
          </a:p>
          <a:p>
            <a:pPr algn="l" marL="907797" indent="-453898" lvl="1">
              <a:lnSpc>
                <a:spcPts val="4541"/>
              </a:lnSpc>
              <a:buFont typeface="Arial"/>
              <a:buChar char="•"/>
            </a:pPr>
            <a:r>
              <a:rPr lang="en-US" sz="4204">
                <a:solidFill>
                  <a:srgbClr val="FFFFFF"/>
                </a:solidFill>
                <a:latin typeface="Raleway Light"/>
                <a:ea typeface="Raleway Light"/>
                <a:cs typeface="Raleway Light"/>
                <a:sym typeface="Raleway Light"/>
              </a:rPr>
              <a:t>Xử lý dữ liệu </a:t>
            </a:r>
          </a:p>
          <a:p>
            <a:pPr algn="l" marL="907797" indent="-453898" lvl="1">
              <a:lnSpc>
                <a:spcPts val="4541"/>
              </a:lnSpc>
              <a:buFont typeface="Arial"/>
              <a:buChar char="•"/>
            </a:pPr>
            <a:r>
              <a:rPr lang="en-US" sz="4204">
                <a:solidFill>
                  <a:srgbClr val="FFFFFF"/>
                </a:solidFill>
                <a:latin typeface="Raleway Light"/>
                <a:ea typeface="Raleway Light"/>
                <a:cs typeface="Raleway Light"/>
                <a:sym typeface="Raleway Light"/>
              </a:rPr>
              <a:t>Machine Learning </a:t>
            </a:r>
          </a:p>
          <a:p>
            <a:pPr algn="l" marL="907797" indent="-453898" lvl="1">
              <a:lnSpc>
                <a:spcPts val="4541"/>
              </a:lnSpc>
              <a:buFont typeface="Arial"/>
              <a:buChar char="•"/>
            </a:pPr>
            <a:r>
              <a:rPr lang="en-US" sz="4204">
                <a:solidFill>
                  <a:srgbClr val="FFFFFF"/>
                </a:solidFill>
                <a:latin typeface="Raleway Light"/>
                <a:ea typeface="Raleway Light"/>
                <a:cs typeface="Raleway Light"/>
                <a:sym typeface="Raleway Light"/>
              </a:rPr>
              <a:t>Deep Learning </a:t>
            </a:r>
          </a:p>
          <a:p>
            <a:pPr algn="l" marL="907797" indent="-453898" lvl="1">
              <a:lnSpc>
                <a:spcPts val="4541"/>
              </a:lnSpc>
              <a:buFont typeface="Arial"/>
              <a:buChar char="•"/>
            </a:pPr>
            <a:r>
              <a:rPr lang="en-US" sz="4204">
                <a:solidFill>
                  <a:srgbClr val="FFFFFF"/>
                </a:solidFill>
                <a:latin typeface="Raleway Light"/>
                <a:ea typeface="Raleway Light"/>
                <a:cs typeface="Raleway Light"/>
                <a:sym typeface="Raleway Light"/>
              </a:rPr>
              <a:t>Sử dụng AI tools</a:t>
            </a:r>
          </a:p>
          <a:p>
            <a:pPr algn="l">
              <a:lnSpc>
                <a:spcPts val="4541"/>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1818860" y="2633556"/>
            <a:ext cx="2716099" cy="271609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000" t="0" r="-25000" b="0"/>
              </a:stretch>
            </a:blipFill>
          </p:spPr>
        </p:sp>
      </p:grpSp>
      <p:grpSp>
        <p:nvGrpSpPr>
          <p:cNvPr name="Group 6" id="6"/>
          <p:cNvGrpSpPr/>
          <p:nvPr/>
        </p:nvGrpSpPr>
        <p:grpSpPr>
          <a:xfrm rot="0">
            <a:off x="14501892" y="5143500"/>
            <a:ext cx="2995991" cy="299599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44362" t="0" r="-46720" b="0"/>
              </a:stretch>
            </a:blipFill>
          </p:spPr>
        </p:sp>
      </p:grpSp>
      <p:grpSp>
        <p:nvGrpSpPr>
          <p:cNvPr name="Group 8" id="8"/>
          <p:cNvGrpSpPr/>
          <p:nvPr/>
        </p:nvGrpSpPr>
        <p:grpSpPr>
          <a:xfrm rot="0">
            <a:off x="10252218" y="6125018"/>
            <a:ext cx="3133282" cy="3133282"/>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27575" t="0" r="-27575" b="0"/>
              </a:stretch>
            </a:blipFill>
          </p:spPr>
        </p:sp>
      </p:grpSp>
      <p:sp>
        <p:nvSpPr>
          <p:cNvPr name="TextBox 10" id="10"/>
          <p:cNvSpPr txBox="true"/>
          <p:nvPr/>
        </p:nvSpPr>
        <p:spPr>
          <a:xfrm rot="0">
            <a:off x="329848" y="3018732"/>
            <a:ext cx="10189724" cy="5359640"/>
          </a:xfrm>
          <a:prstGeom prst="rect">
            <a:avLst/>
          </a:prstGeom>
        </p:spPr>
        <p:txBody>
          <a:bodyPr anchor="t" rtlCol="false" tIns="0" lIns="0" bIns="0" rIns="0">
            <a:spAutoFit/>
          </a:bodyPr>
          <a:lstStyle/>
          <a:p>
            <a:pPr algn="l">
              <a:lnSpc>
                <a:spcPts val="3842"/>
              </a:lnSpc>
            </a:pPr>
            <a:r>
              <a:rPr lang="en-US" sz="3557">
                <a:solidFill>
                  <a:srgbClr val="FFFFFF"/>
                </a:solidFill>
                <a:latin typeface="Muli"/>
                <a:ea typeface="Muli"/>
                <a:cs typeface="Muli"/>
                <a:sym typeface="Muli"/>
              </a:rPr>
              <a:t>1.Nhóm code.</a:t>
            </a:r>
          </a:p>
          <a:p>
            <a:pPr algn="l" marL="768052" indent="-384026" lvl="1">
              <a:lnSpc>
                <a:spcPts val="3842"/>
              </a:lnSpc>
              <a:buFont typeface="Arial"/>
              <a:buChar char="•"/>
            </a:pPr>
            <a:r>
              <a:rPr lang="en-US" sz="3557">
                <a:solidFill>
                  <a:srgbClr val="FFFFFF"/>
                </a:solidFill>
                <a:latin typeface="Muli"/>
                <a:ea typeface="Muli"/>
                <a:cs typeface="Muli"/>
                <a:sym typeface="Muli"/>
              </a:rPr>
              <a:t>Github Copilot,Amazon CodeWhisperer</a:t>
            </a:r>
          </a:p>
          <a:p>
            <a:pPr algn="l">
              <a:lnSpc>
                <a:spcPts val="3842"/>
              </a:lnSpc>
            </a:pPr>
          </a:p>
          <a:p>
            <a:pPr algn="l">
              <a:lnSpc>
                <a:spcPts val="3842"/>
              </a:lnSpc>
            </a:pPr>
            <a:r>
              <a:rPr lang="en-US" sz="3557">
                <a:solidFill>
                  <a:srgbClr val="FFFFFF"/>
                </a:solidFill>
                <a:latin typeface="Muli"/>
                <a:ea typeface="Muli"/>
                <a:cs typeface="Muli"/>
                <a:sym typeface="Muli"/>
              </a:rPr>
              <a:t>2.</a:t>
            </a:r>
            <a:r>
              <a:rPr lang="en-US" sz="3557">
                <a:solidFill>
                  <a:srgbClr val="FFFFFF"/>
                </a:solidFill>
                <a:latin typeface="Muli"/>
                <a:ea typeface="Muli"/>
                <a:cs typeface="Muli"/>
                <a:sym typeface="Muli"/>
              </a:rPr>
              <a:t>Nhóm quản lý.</a:t>
            </a:r>
          </a:p>
          <a:p>
            <a:pPr algn="l" marL="768052" indent="-384026" lvl="1">
              <a:lnSpc>
                <a:spcPts val="3842"/>
              </a:lnSpc>
              <a:buFont typeface="Arial"/>
              <a:buChar char="•"/>
            </a:pPr>
            <a:r>
              <a:rPr lang="en-US" sz="3557">
                <a:solidFill>
                  <a:srgbClr val="FFFFFF"/>
                </a:solidFill>
                <a:latin typeface="Muli"/>
                <a:ea typeface="Muli"/>
                <a:cs typeface="Muli"/>
                <a:sym typeface="Muli"/>
              </a:rPr>
              <a:t>Notion AI,Clickup AI</a:t>
            </a:r>
          </a:p>
          <a:p>
            <a:pPr algn="l">
              <a:lnSpc>
                <a:spcPts val="3842"/>
              </a:lnSpc>
            </a:pPr>
          </a:p>
          <a:p>
            <a:pPr algn="l">
              <a:lnSpc>
                <a:spcPts val="3842"/>
              </a:lnSpc>
            </a:pPr>
            <a:r>
              <a:rPr lang="en-US" sz="3557">
                <a:solidFill>
                  <a:srgbClr val="FFFFFF"/>
                </a:solidFill>
                <a:latin typeface="Muli"/>
                <a:ea typeface="Muli"/>
                <a:cs typeface="Muli"/>
                <a:sym typeface="Muli"/>
              </a:rPr>
              <a:t>3.Nhóm tổng hợp-rút trích dữ liệu.</a:t>
            </a:r>
          </a:p>
          <a:p>
            <a:pPr algn="l" marL="768052" indent="-384026" lvl="1">
              <a:lnSpc>
                <a:spcPts val="3842"/>
              </a:lnSpc>
              <a:buFont typeface="Arial"/>
              <a:buChar char="•"/>
            </a:pPr>
            <a:r>
              <a:rPr lang="en-US" sz="3557">
                <a:solidFill>
                  <a:srgbClr val="FFFFFF"/>
                </a:solidFill>
                <a:latin typeface="Muli"/>
                <a:ea typeface="Muli"/>
                <a:cs typeface="Muli"/>
                <a:sym typeface="Muli"/>
              </a:rPr>
              <a:t>Chat Gpt, Gemini, Google Cloud AI</a:t>
            </a:r>
          </a:p>
          <a:p>
            <a:pPr algn="l">
              <a:lnSpc>
                <a:spcPts val="3842"/>
              </a:lnSpc>
            </a:pPr>
          </a:p>
          <a:p>
            <a:pPr algn="l">
              <a:lnSpc>
                <a:spcPts val="3842"/>
              </a:lnSpc>
            </a:pPr>
            <a:r>
              <a:rPr lang="en-US" sz="3557">
                <a:solidFill>
                  <a:srgbClr val="FFFFFF"/>
                </a:solidFill>
                <a:latin typeface="Muli"/>
                <a:ea typeface="Muli"/>
                <a:cs typeface="Muli"/>
                <a:sym typeface="Muli"/>
              </a:rPr>
              <a:t>4.Nhóm thiết kế.</a:t>
            </a:r>
          </a:p>
          <a:p>
            <a:pPr algn="l" marL="768052" indent="-384026" lvl="1">
              <a:lnSpc>
                <a:spcPts val="3842"/>
              </a:lnSpc>
              <a:buFont typeface="Arial"/>
              <a:buChar char="•"/>
            </a:pPr>
            <a:r>
              <a:rPr lang="en-US" sz="3557">
                <a:solidFill>
                  <a:srgbClr val="FFFFFF"/>
                </a:solidFill>
                <a:latin typeface="Muli"/>
                <a:ea typeface="Muli"/>
                <a:cs typeface="Muli"/>
                <a:sym typeface="Muli"/>
              </a:rPr>
              <a:t>Adobe firefly</a:t>
            </a:r>
          </a:p>
        </p:txBody>
      </p:sp>
      <p:sp>
        <p:nvSpPr>
          <p:cNvPr name="TextBox 11" id="11"/>
          <p:cNvSpPr txBox="true"/>
          <p:nvPr/>
        </p:nvSpPr>
        <p:spPr>
          <a:xfrm rot="0">
            <a:off x="3476780" y="604395"/>
            <a:ext cx="11028326" cy="1823006"/>
          </a:xfrm>
          <a:prstGeom prst="rect">
            <a:avLst/>
          </a:prstGeom>
        </p:spPr>
        <p:txBody>
          <a:bodyPr anchor="t" rtlCol="false" tIns="0" lIns="0" bIns="0" rIns="0">
            <a:spAutoFit/>
          </a:bodyPr>
          <a:lstStyle/>
          <a:p>
            <a:pPr algn="ctr">
              <a:lnSpc>
                <a:spcPts val="7258"/>
              </a:lnSpc>
            </a:pPr>
            <a:r>
              <a:rPr lang="en-US" sz="5760">
                <a:solidFill>
                  <a:srgbClr val="FFFFFF"/>
                </a:solidFill>
                <a:latin typeface="Francois One"/>
                <a:ea typeface="Francois One"/>
                <a:cs typeface="Francois One"/>
                <a:sym typeface="Francois One"/>
              </a:rPr>
              <a:t>7.CÔNG CỤ AI HỖ TRỢ NGÀNH CÔNG NGHỆ THÔNG TIN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07591" y="2981106"/>
            <a:ext cx="9409069" cy="6798491"/>
          </a:xfrm>
          <a:custGeom>
            <a:avLst/>
            <a:gdLst/>
            <a:ahLst/>
            <a:cxnLst/>
            <a:rect r="r" b="b" t="t" l="l"/>
            <a:pathLst>
              <a:path h="6798491" w="9409069">
                <a:moveTo>
                  <a:pt x="0" y="0"/>
                </a:moveTo>
                <a:lnTo>
                  <a:pt x="9409069" y="0"/>
                </a:lnTo>
                <a:lnTo>
                  <a:pt x="9409069" y="6798491"/>
                </a:lnTo>
                <a:lnTo>
                  <a:pt x="0" y="6798491"/>
                </a:lnTo>
                <a:lnTo>
                  <a:pt x="0" y="0"/>
                </a:lnTo>
                <a:close/>
              </a:path>
            </a:pathLst>
          </a:custGeom>
          <a:blipFill>
            <a:blip r:embed="rId4"/>
            <a:stretch>
              <a:fillRect l="-2611" t="0" r="-2611" b="-5944"/>
            </a:stretch>
          </a:blipFill>
        </p:spPr>
      </p:sp>
      <p:sp>
        <p:nvSpPr>
          <p:cNvPr name="TextBox 5" id="5"/>
          <p:cNvSpPr txBox="true"/>
          <p:nvPr/>
        </p:nvSpPr>
        <p:spPr>
          <a:xfrm rot="0">
            <a:off x="3797368" y="1262155"/>
            <a:ext cx="11028326" cy="963470"/>
          </a:xfrm>
          <a:prstGeom prst="rect">
            <a:avLst/>
          </a:prstGeom>
        </p:spPr>
        <p:txBody>
          <a:bodyPr anchor="t" rtlCol="false" tIns="0" lIns="0" bIns="0" rIns="0">
            <a:spAutoFit/>
          </a:bodyPr>
          <a:lstStyle/>
          <a:p>
            <a:pPr algn="ctr">
              <a:lnSpc>
                <a:spcPts val="7636"/>
              </a:lnSpc>
            </a:pPr>
            <a:r>
              <a:rPr lang="en-US" sz="6060">
                <a:solidFill>
                  <a:srgbClr val="FFFFFF"/>
                </a:solidFill>
                <a:latin typeface="Francois One"/>
                <a:ea typeface="Francois One"/>
                <a:cs typeface="Francois One"/>
                <a:sym typeface="Francois One"/>
              </a:rPr>
              <a:t>ỨNG DỤNG GEMINI TRONG HỌC TẬP</a:t>
            </a:r>
          </a:p>
        </p:txBody>
      </p:sp>
      <p:sp>
        <p:nvSpPr>
          <p:cNvPr name="TextBox 6" id="6"/>
          <p:cNvSpPr txBox="true"/>
          <p:nvPr/>
        </p:nvSpPr>
        <p:spPr>
          <a:xfrm rot="0">
            <a:off x="10614579" y="4333769"/>
            <a:ext cx="6513534" cy="1664891"/>
          </a:xfrm>
          <a:prstGeom prst="rect">
            <a:avLst/>
          </a:prstGeom>
        </p:spPr>
        <p:txBody>
          <a:bodyPr anchor="t" rtlCol="false" tIns="0" lIns="0" bIns="0" rIns="0">
            <a:spAutoFit/>
          </a:bodyPr>
          <a:lstStyle/>
          <a:p>
            <a:pPr algn="ctr">
              <a:lnSpc>
                <a:spcPts val="6628"/>
              </a:lnSpc>
            </a:pPr>
            <a:r>
              <a:rPr lang="en-US" sz="5260">
                <a:solidFill>
                  <a:srgbClr val="FFFFFF"/>
                </a:solidFill>
                <a:latin typeface="Muli"/>
                <a:ea typeface="Muli"/>
                <a:cs typeface="Muli"/>
                <a:sym typeface="Muli"/>
              </a:rPr>
              <a:t>Dùng gemini để tạo lộ trình học python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862411" y="2235401"/>
            <a:ext cx="11028326" cy="1153589"/>
          </a:xfrm>
          <a:prstGeom prst="rect">
            <a:avLst/>
          </a:prstGeom>
        </p:spPr>
        <p:txBody>
          <a:bodyPr anchor="t" rtlCol="false" tIns="0" lIns="0" bIns="0" rIns="0">
            <a:spAutoFit/>
          </a:bodyPr>
          <a:lstStyle/>
          <a:p>
            <a:pPr algn="ctr">
              <a:lnSpc>
                <a:spcPts val="9274"/>
              </a:lnSpc>
            </a:pPr>
            <a:r>
              <a:rPr lang="en-US" sz="7360">
                <a:solidFill>
                  <a:srgbClr val="FFFFFF"/>
                </a:solidFill>
                <a:latin typeface="Francois One"/>
                <a:ea typeface="Francois One"/>
                <a:cs typeface="Francois One"/>
                <a:sym typeface="Francois One"/>
              </a:rPr>
              <a:t>KẾT LUẬN</a:t>
            </a:r>
          </a:p>
        </p:txBody>
      </p:sp>
      <p:sp>
        <p:nvSpPr>
          <p:cNvPr name="TextBox 6" id="6"/>
          <p:cNvSpPr txBox="true"/>
          <p:nvPr/>
        </p:nvSpPr>
        <p:spPr>
          <a:xfrm rot="0">
            <a:off x="2074920" y="3824131"/>
            <a:ext cx="14603306" cy="4134884"/>
          </a:xfrm>
          <a:prstGeom prst="rect">
            <a:avLst/>
          </a:prstGeom>
        </p:spPr>
        <p:txBody>
          <a:bodyPr anchor="t" rtlCol="false" tIns="0" lIns="0" bIns="0" rIns="0">
            <a:spAutoFit/>
          </a:bodyPr>
          <a:lstStyle/>
          <a:p>
            <a:pPr algn="l">
              <a:lnSpc>
                <a:spcPts val="4123"/>
              </a:lnSpc>
            </a:pPr>
            <a:r>
              <a:rPr lang="en-US" sz="3817">
                <a:solidFill>
                  <a:srgbClr val="FFFFFF"/>
                </a:solidFill>
                <a:latin typeface="Muli"/>
                <a:ea typeface="Muli"/>
                <a:cs typeface="Muli"/>
                <a:sym typeface="Muli"/>
              </a:rPr>
              <a:t>AI đang trở thành một phần quan trọng trong sự phát triển của công nghệ thông tin. Việc kết hợp AI vào học tập và công việc giúp chúng ta làm việc nhanh hơn, chính xác hơn và sáng tạo hơn. Dù vậy, AI chỉ là công cụ; con người mới là yếu tố quyết định cách sử dụng nó một cách hiệu quả và đạo đức. Hy vọng bài thuyết trình đã mang đến những thông tin hữu ích và góp phần giúp mọi người hiểu rõ hơn về tiềm năng cũng như thách thức mà AI đem lại.</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000000">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3818141" y="3499692"/>
            <a:ext cx="11183517" cy="2836900"/>
          </a:xfrm>
          <a:prstGeom prst="rect">
            <a:avLst/>
          </a:prstGeom>
        </p:spPr>
        <p:txBody>
          <a:bodyPr anchor="t" rtlCol="false" tIns="0" lIns="0" bIns="0" rIns="0">
            <a:spAutoFit/>
          </a:bodyPr>
          <a:lstStyle/>
          <a:p>
            <a:pPr algn="ctr">
              <a:lnSpc>
                <a:spcPts val="11281"/>
              </a:lnSpc>
            </a:pPr>
            <a:r>
              <a:rPr lang="en-US" sz="8953">
                <a:solidFill>
                  <a:srgbClr val="FFFFFF"/>
                </a:solidFill>
                <a:latin typeface="Francois One"/>
                <a:ea typeface="Francois One"/>
                <a:cs typeface="Francois One"/>
                <a:sym typeface="Francois One"/>
              </a:rPr>
              <a:t>XIN CẢM ƠN CÔ VÀ CÁC BẠN ĐÃ LẮNG NGHE.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DAG7G1yV3tM</dc:identifier>
  <dcterms:modified xsi:type="dcterms:W3CDTF">2011-08-01T06:04:30Z</dcterms:modified>
  <cp:revision>1</cp:revision>
  <dc:title>Blue and Brown Cute Pastel Plaid Group Project Presentation</dc:title>
</cp:coreProperties>
</file>